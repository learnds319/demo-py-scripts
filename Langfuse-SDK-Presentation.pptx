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41E7E0-511E-47BE-AFFE-11FCC629201E}" type="doc">
      <dgm:prSet loTypeId="urn:microsoft.com/office/officeart/2011/layout/CircleProcess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6B29825-EE97-415C-8EB9-F5FC3126B72F}">
      <dgm:prSet phldrT="[Text]"/>
      <dgm:spPr/>
      <dgm:t>
        <a:bodyPr/>
        <a:lstStyle/>
        <a:p>
          <a:r>
            <a:rPr lang="en-US" b="1" i="0" dirty="0">
              <a:effectLst/>
              <a:latin typeface="ui-sans-serif"/>
            </a:rPr>
            <a:t>Cloud Exploration</a:t>
          </a:r>
        </a:p>
        <a:p>
          <a:r>
            <a:rPr lang="en-US" b="0" i="0" dirty="0">
              <a:effectLst/>
              <a:latin typeface="ui-sans-serif"/>
            </a:rPr>
            <a:t>Initial assessment of </a:t>
          </a:r>
          <a:r>
            <a:rPr lang="en-US" b="0" i="0" dirty="0" err="1">
              <a:effectLst/>
              <a:latin typeface="ui-sans-serif"/>
            </a:rPr>
            <a:t>Langfuse</a:t>
          </a:r>
          <a:r>
            <a:rPr lang="en-US" b="0" i="0" dirty="0">
              <a:effectLst/>
              <a:latin typeface="ui-sans-serif"/>
            </a:rPr>
            <a:t> Cloud for rapid deployment.</a:t>
          </a:r>
          <a:endParaRPr lang="en-IN" dirty="0"/>
        </a:p>
      </dgm:t>
    </dgm:pt>
    <dgm:pt modelId="{6F76B9A7-27A1-4C32-8A02-329414E2E75A}" type="parTrans" cxnId="{9ED8EF33-04EE-4A84-8E1E-D0A70DEE1F57}">
      <dgm:prSet/>
      <dgm:spPr/>
      <dgm:t>
        <a:bodyPr/>
        <a:lstStyle/>
        <a:p>
          <a:endParaRPr lang="en-IN"/>
        </a:p>
      </dgm:t>
    </dgm:pt>
    <dgm:pt modelId="{734B9241-B689-432F-9D80-A301A1D3156E}" type="sibTrans" cxnId="{9ED8EF33-04EE-4A84-8E1E-D0A70DEE1F57}">
      <dgm:prSet/>
      <dgm:spPr/>
      <dgm:t>
        <a:bodyPr/>
        <a:lstStyle/>
        <a:p>
          <a:endParaRPr lang="en-IN"/>
        </a:p>
      </dgm:t>
    </dgm:pt>
    <dgm:pt modelId="{FF185962-E3A3-4F6E-9C9B-916761D03BF8}">
      <dgm:prSet phldrT="[Text]"/>
      <dgm:spPr/>
      <dgm:t>
        <a:bodyPr/>
        <a:lstStyle/>
        <a:p>
          <a:r>
            <a:rPr lang="en-US" b="1" i="0" dirty="0">
              <a:effectLst/>
              <a:latin typeface="ui-sans-serif"/>
            </a:rPr>
            <a:t>Consultation</a:t>
          </a:r>
        </a:p>
        <a:p>
          <a:r>
            <a:rPr lang="en-US" b="0" i="0" dirty="0">
              <a:effectLst/>
              <a:latin typeface="ui-sans-serif"/>
            </a:rPr>
            <a:t>Sync with </a:t>
          </a:r>
          <a:r>
            <a:rPr lang="en-US" b="1" i="0" dirty="0">
              <a:effectLst/>
              <a:latin typeface="ui-sans-serif"/>
            </a:rPr>
            <a:t>Core AI Team</a:t>
          </a:r>
          <a:r>
            <a:rPr lang="en-US" b="0" i="0" dirty="0">
              <a:effectLst/>
              <a:latin typeface="ui-sans-serif"/>
            </a:rPr>
            <a:t>. Discovery: No enterprise license currently active; team is primarily focused on internal POCs.</a:t>
          </a:r>
          <a:endParaRPr lang="en-IN" dirty="0"/>
        </a:p>
      </dgm:t>
    </dgm:pt>
    <dgm:pt modelId="{4068E1F5-6073-4552-8195-491AC69FB51F}" type="parTrans" cxnId="{9933A1E3-DB8A-4160-8753-1097C79527D7}">
      <dgm:prSet/>
      <dgm:spPr/>
      <dgm:t>
        <a:bodyPr/>
        <a:lstStyle/>
        <a:p>
          <a:endParaRPr lang="en-IN"/>
        </a:p>
      </dgm:t>
    </dgm:pt>
    <dgm:pt modelId="{59A339CB-496D-486D-953D-07FC3C7B0CF8}" type="sibTrans" cxnId="{9933A1E3-DB8A-4160-8753-1097C79527D7}">
      <dgm:prSet/>
      <dgm:spPr/>
      <dgm:t>
        <a:bodyPr/>
        <a:lstStyle/>
        <a:p>
          <a:endParaRPr lang="en-IN"/>
        </a:p>
      </dgm:t>
    </dgm:pt>
    <dgm:pt modelId="{587A2DD1-A1D5-4E49-B18A-16E9F650FA2C}">
      <dgm:prSet/>
      <dgm:spPr/>
      <dgm:t>
        <a:bodyPr/>
        <a:lstStyle/>
        <a:p>
          <a:r>
            <a:rPr lang="en-US" b="1" i="0" dirty="0">
              <a:effectLst/>
              <a:latin typeface="ui-sans-serif"/>
            </a:rPr>
            <a:t>Strategic Pivot</a:t>
          </a:r>
        </a:p>
        <a:p>
          <a:r>
            <a:rPr lang="en-US" b="0" i="0" dirty="0">
              <a:effectLst/>
              <a:latin typeface="ui-sans-serif"/>
            </a:rPr>
            <a:t>Decision to move to </a:t>
          </a:r>
          <a:r>
            <a:rPr lang="en-US" b="1" i="0" dirty="0">
              <a:effectLst/>
              <a:latin typeface="ui-sans-serif"/>
            </a:rPr>
            <a:t>On-Prem </a:t>
          </a:r>
          <a:r>
            <a:rPr lang="en-US" b="1" i="0" dirty="0" err="1">
              <a:effectLst/>
              <a:latin typeface="ui-sans-serif"/>
            </a:rPr>
            <a:t>Langfuse</a:t>
          </a:r>
          <a:r>
            <a:rPr lang="en-US" b="0" i="0" dirty="0">
              <a:effectLst/>
              <a:latin typeface="ui-sans-serif"/>
            </a:rPr>
            <a:t>. Priorities: Data security, full infrastructure control, and immediate autonomy.</a:t>
          </a:r>
        </a:p>
      </dgm:t>
    </dgm:pt>
    <dgm:pt modelId="{A838C5C3-94D3-41E4-A530-0400646902F0}" type="parTrans" cxnId="{C0744DC3-A939-46AE-81A4-B5B444393AB4}">
      <dgm:prSet/>
      <dgm:spPr/>
      <dgm:t>
        <a:bodyPr/>
        <a:lstStyle/>
        <a:p>
          <a:endParaRPr lang="en-IN"/>
        </a:p>
      </dgm:t>
    </dgm:pt>
    <dgm:pt modelId="{6C79FEC8-C71B-4EF2-BC1D-49D797935D4D}" type="sibTrans" cxnId="{C0744DC3-A939-46AE-81A4-B5B444393AB4}">
      <dgm:prSet/>
      <dgm:spPr/>
      <dgm:t>
        <a:bodyPr/>
        <a:lstStyle/>
        <a:p>
          <a:endParaRPr lang="en-IN"/>
        </a:p>
      </dgm:t>
    </dgm:pt>
    <dgm:pt modelId="{57EA2BC2-88DE-40AC-8E67-156723EFBF7C}">
      <dgm:prSet/>
      <dgm:spPr/>
      <dgm:t>
        <a:bodyPr/>
        <a:lstStyle/>
        <a:p>
          <a:r>
            <a:rPr lang="en-US" b="1" i="0" dirty="0">
              <a:effectLst/>
              <a:latin typeface="ui-sans-serif"/>
            </a:rPr>
            <a:t>Local Validation</a:t>
          </a:r>
        </a:p>
        <a:p>
          <a:r>
            <a:rPr lang="en-US" b="0" i="0" dirty="0">
              <a:effectLst/>
              <a:latin typeface="ui-sans-serif"/>
            </a:rPr>
            <a:t>Quick-start POC completed on local laptops using Docker to verify middleware compatibility.</a:t>
          </a:r>
        </a:p>
      </dgm:t>
    </dgm:pt>
    <dgm:pt modelId="{CBDD0DD6-EC27-4A17-BE0C-9CF52108EDED}" type="parTrans" cxnId="{D0E71211-8CBF-47CD-A753-2E85277DFD1C}">
      <dgm:prSet/>
      <dgm:spPr/>
      <dgm:t>
        <a:bodyPr/>
        <a:lstStyle/>
        <a:p>
          <a:endParaRPr lang="en-IN"/>
        </a:p>
      </dgm:t>
    </dgm:pt>
    <dgm:pt modelId="{A609B40D-3E01-481D-8747-90333A12C4A7}" type="sibTrans" cxnId="{D0E71211-8CBF-47CD-A753-2E85277DFD1C}">
      <dgm:prSet/>
      <dgm:spPr/>
      <dgm:t>
        <a:bodyPr/>
        <a:lstStyle/>
        <a:p>
          <a:endParaRPr lang="en-IN"/>
        </a:p>
      </dgm:t>
    </dgm:pt>
    <dgm:pt modelId="{83FE7A1E-549D-4D99-B587-F2AB1E252F2A}">
      <dgm:prSet/>
      <dgm:spPr/>
      <dgm:t>
        <a:bodyPr/>
        <a:lstStyle/>
        <a:p>
          <a:r>
            <a:rPr lang="en-US" b="1" i="0" dirty="0">
              <a:effectLst/>
              <a:latin typeface="ui-sans-serif"/>
            </a:rPr>
            <a:t>EC2 Infrastructure</a:t>
          </a:r>
        </a:p>
        <a:p>
          <a:r>
            <a:rPr lang="en-US" b="0" i="0" dirty="0">
              <a:effectLst/>
              <a:latin typeface="ui-sans-serif"/>
            </a:rPr>
            <a:t>Successful acquisition of a dedicated </a:t>
          </a:r>
          <a:r>
            <a:rPr lang="en-US" b="1" i="0" dirty="0">
              <a:effectLst/>
              <a:latin typeface="ui-sans-serif"/>
            </a:rPr>
            <a:t>AWS EC2 Instance</a:t>
          </a:r>
          <a:r>
            <a:rPr lang="en-US" b="0" i="0" dirty="0">
              <a:effectLst/>
              <a:latin typeface="ui-sans-serif"/>
            </a:rPr>
            <a:t>. Deployment of self-hosted </a:t>
          </a:r>
          <a:r>
            <a:rPr lang="en-US" b="0" i="0" dirty="0" err="1">
              <a:effectLst/>
              <a:latin typeface="ui-sans-serif"/>
            </a:rPr>
            <a:t>Langfuse</a:t>
          </a:r>
          <a:r>
            <a:rPr lang="en-US" b="0" i="0" dirty="0">
              <a:effectLst/>
              <a:latin typeface="ui-sans-serif"/>
            </a:rPr>
            <a:t> </a:t>
          </a:r>
          <a:r>
            <a:rPr lang="en-US" b="0" i="0" dirty="0" err="1">
              <a:effectLst/>
              <a:latin typeface="ui-sans-serif"/>
            </a:rPr>
            <a:t>stack.</a:t>
          </a:r>
          <a:r>
            <a:rPr lang="en-US" b="1" i="0" dirty="0" err="1">
              <a:effectLst/>
              <a:latin typeface="ui-sans-serif"/>
            </a:rPr>
            <a:t>e</a:t>
          </a:r>
          <a:endParaRPr lang="en-US" b="0" i="0" dirty="0">
            <a:effectLst/>
            <a:latin typeface="ui-sans-serif"/>
          </a:endParaRPr>
        </a:p>
      </dgm:t>
    </dgm:pt>
    <dgm:pt modelId="{A995A982-952D-4600-B10C-E0A00499E588}" type="parTrans" cxnId="{E45F5823-7B7B-4DB0-907F-9130C5564F3B}">
      <dgm:prSet/>
      <dgm:spPr/>
      <dgm:t>
        <a:bodyPr/>
        <a:lstStyle/>
        <a:p>
          <a:endParaRPr lang="en-IN"/>
        </a:p>
      </dgm:t>
    </dgm:pt>
    <dgm:pt modelId="{42ED5E77-1E6F-46A4-A030-F0C1AF1A7C80}" type="sibTrans" cxnId="{E45F5823-7B7B-4DB0-907F-9130C5564F3B}">
      <dgm:prSet/>
      <dgm:spPr/>
      <dgm:t>
        <a:bodyPr/>
        <a:lstStyle/>
        <a:p>
          <a:endParaRPr lang="en-IN"/>
        </a:p>
      </dgm:t>
    </dgm:pt>
    <dgm:pt modelId="{CC3F7AD4-5D6F-49D3-A4AE-4E6182B31494}">
      <dgm:prSet/>
      <dgm:spPr/>
      <dgm:t>
        <a:bodyPr/>
        <a:lstStyle/>
        <a:p>
          <a:r>
            <a:rPr lang="en-US" b="1" i="0" dirty="0">
              <a:effectLst/>
              <a:latin typeface="ui-sans-serif"/>
            </a:rPr>
            <a:t>Policy Watch Integration</a:t>
          </a:r>
        </a:p>
        <a:p>
          <a:r>
            <a:rPr lang="en-US" b="0" i="0" dirty="0">
              <a:effectLst/>
              <a:latin typeface="ui-sans-serif"/>
            </a:rPr>
            <a:t>Final configuration and instrumentation of the </a:t>
          </a:r>
          <a:r>
            <a:rPr lang="en-US" b="1" i="0" dirty="0">
              <a:effectLst/>
              <a:latin typeface="ui-sans-serif"/>
            </a:rPr>
            <a:t>Policy Watch</a:t>
          </a:r>
          <a:r>
            <a:rPr lang="en-US" b="0" i="0" dirty="0">
              <a:effectLst/>
              <a:latin typeface="ui-sans-serif"/>
            </a:rPr>
            <a:t> pipeline for production-ready observability.</a:t>
          </a:r>
        </a:p>
      </dgm:t>
    </dgm:pt>
    <dgm:pt modelId="{EDB4160E-9845-4F60-B778-6229A6537710}" type="parTrans" cxnId="{C161CAC5-096B-4DAC-8996-44F4B1B9640F}">
      <dgm:prSet/>
      <dgm:spPr/>
      <dgm:t>
        <a:bodyPr/>
        <a:lstStyle/>
        <a:p>
          <a:endParaRPr lang="en-IN"/>
        </a:p>
      </dgm:t>
    </dgm:pt>
    <dgm:pt modelId="{C26521BF-3872-48D1-A1DB-4C4278A84147}" type="sibTrans" cxnId="{C161CAC5-096B-4DAC-8996-44F4B1B9640F}">
      <dgm:prSet/>
      <dgm:spPr/>
      <dgm:t>
        <a:bodyPr/>
        <a:lstStyle/>
        <a:p>
          <a:endParaRPr lang="en-IN"/>
        </a:p>
      </dgm:t>
    </dgm:pt>
    <dgm:pt modelId="{7328205B-DC1F-4B0F-8F57-312E959DACBC}" type="pres">
      <dgm:prSet presAssocID="{1741E7E0-511E-47BE-AFFE-11FCC629201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3A3E343-F4D0-45DA-A9DC-AA30303D4050}" type="pres">
      <dgm:prSet presAssocID="{CC3F7AD4-5D6F-49D3-A4AE-4E6182B31494}" presName="Accent6" presStyleCnt="0"/>
      <dgm:spPr/>
    </dgm:pt>
    <dgm:pt modelId="{0A445BB2-80C4-4B1D-91B8-4B05DFEA5950}" type="pres">
      <dgm:prSet presAssocID="{CC3F7AD4-5D6F-49D3-A4AE-4E6182B31494}" presName="Accent" presStyleLbl="node1" presStyleIdx="0" presStyleCnt="6"/>
      <dgm:spPr/>
    </dgm:pt>
    <dgm:pt modelId="{5336F471-1E0E-40EF-A2E5-36148EAD3DA9}" type="pres">
      <dgm:prSet presAssocID="{CC3F7AD4-5D6F-49D3-A4AE-4E6182B31494}" presName="ParentBackground6" presStyleCnt="0"/>
      <dgm:spPr/>
    </dgm:pt>
    <dgm:pt modelId="{6EFCB34C-D1B1-43AC-8861-519B138E233E}" type="pres">
      <dgm:prSet presAssocID="{CC3F7AD4-5D6F-49D3-A4AE-4E6182B31494}" presName="ParentBackground" presStyleLbl="fgAcc1" presStyleIdx="0" presStyleCnt="6"/>
      <dgm:spPr/>
    </dgm:pt>
    <dgm:pt modelId="{5B2277A6-1525-4771-AF5D-38009522DA05}" type="pres">
      <dgm:prSet presAssocID="{CC3F7AD4-5D6F-49D3-A4AE-4E6182B31494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DE97388-E6C9-4B32-934D-6284013B24B9}" type="pres">
      <dgm:prSet presAssocID="{83FE7A1E-549D-4D99-B587-F2AB1E252F2A}" presName="Accent5" presStyleCnt="0"/>
      <dgm:spPr/>
    </dgm:pt>
    <dgm:pt modelId="{0B062F6C-D458-450F-AF8D-8889E4B90CAE}" type="pres">
      <dgm:prSet presAssocID="{83FE7A1E-549D-4D99-B587-F2AB1E252F2A}" presName="Accent" presStyleLbl="node1" presStyleIdx="1" presStyleCnt="6"/>
      <dgm:spPr/>
    </dgm:pt>
    <dgm:pt modelId="{3F3610B8-A51D-404C-A4BA-D8AA876A167B}" type="pres">
      <dgm:prSet presAssocID="{83FE7A1E-549D-4D99-B587-F2AB1E252F2A}" presName="ParentBackground5" presStyleCnt="0"/>
      <dgm:spPr/>
    </dgm:pt>
    <dgm:pt modelId="{A49D5C13-C397-40B9-9618-D2B6C74F8215}" type="pres">
      <dgm:prSet presAssocID="{83FE7A1E-549D-4D99-B587-F2AB1E252F2A}" presName="ParentBackground" presStyleLbl="fgAcc1" presStyleIdx="1" presStyleCnt="6"/>
      <dgm:spPr/>
    </dgm:pt>
    <dgm:pt modelId="{5DE60781-91E0-4760-9FE1-61C5F61FA3F8}" type="pres">
      <dgm:prSet presAssocID="{83FE7A1E-549D-4D99-B587-F2AB1E252F2A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2E44793-BAAC-478E-890F-FBA64E056AA0}" type="pres">
      <dgm:prSet presAssocID="{57EA2BC2-88DE-40AC-8E67-156723EFBF7C}" presName="Accent4" presStyleCnt="0"/>
      <dgm:spPr/>
    </dgm:pt>
    <dgm:pt modelId="{876EC74A-F374-40DD-998F-0ECDD7F7DE01}" type="pres">
      <dgm:prSet presAssocID="{57EA2BC2-88DE-40AC-8E67-156723EFBF7C}" presName="Accent" presStyleLbl="node1" presStyleIdx="2" presStyleCnt="6"/>
      <dgm:spPr/>
    </dgm:pt>
    <dgm:pt modelId="{31E8D11B-4591-44CA-9409-B3360168AB23}" type="pres">
      <dgm:prSet presAssocID="{57EA2BC2-88DE-40AC-8E67-156723EFBF7C}" presName="ParentBackground4" presStyleCnt="0"/>
      <dgm:spPr/>
    </dgm:pt>
    <dgm:pt modelId="{64D7E69F-8518-4273-9EB1-7B5EA7A9D5B3}" type="pres">
      <dgm:prSet presAssocID="{57EA2BC2-88DE-40AC-8E67-156723EFBF7C}" presName="ParentBackground" presStyleLbl="fgAcc1" presStyleIdx="2" presStyleCnt="6"/>
      <dgm:spPr/>
    </dgm:pt>
    <dgm:pt modelId="{EA77BAF4-208D-43D3-9A43-D6AA338C7597}" type="pres">
      <dgm:prSet presAssocID="{57EA2BC2-88DE-40AC-8E67-156723EFBF7C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25679EF-A373-4C16-92B9-73F0DE7DD4E7}" type="pres">
      <dgm:prSet presAssocID="{587A2DD1-A1D5-4E49-B18A-16E9F650FA2C}" presName="Accent3" presStyleCnt="0"/>
      <dgm:spPr/>
    </dgm:pt>
    <dgm:pt modelId="{E9881F0A-3E9F-4923-BFD3-84D6F138FC7C}" type="pres">
      <dgm:prSet presAssocID="{587A2DD1-A1D5-4E49-B18A-16E9F650FA2C}" presName="Accent" presStyleLbl="node1" presStyleIdx="3" presStyleCnt="6"/>
      <dgm:spPr/>
    </dgm:pt>
    <dgm:pt modelId="{B3AE43E6-F6B1-4927-9613-A67EC9225E9C}" type="pres">
      <dgm:prSet presAssocID="{587A2DD1-A1D5-4E49-B18A-16E9F650FA2C}" presName="ParentBackground3" presStyleCnt="0"/>
      <dgm:spPr/>
    </dgm:pt>
    <dgm:pt modelId="{028033D3-B196-496F-9A8E-5076F6390B19}" type="pres">
      <dgm:prSet presAssocID="{587A2DD1-A1D5-4E49-B18A-16E9F650FA2C}" presName="ParentBackground" presStyleLbl="fgAcc1" presStyleIdx="3" presStyleCnt="6"/>
      <dgm:spPr/>
    </dgm:pt>
    <dgm:pt modelId="{4C188151-5BAA-4388-8B0F-A5C6416A1A7B}" type="pres">
      <dgm:prSet presAssocID="{587A2DD1-A1D5-4E49-B18A-16E9F650FA2C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0DE2D74-C0EF-4D84-84C3-7A8A45FD8643}" type="pres">
      <dgm:prSet presAssocID="{FF185962-E3A3-4F6E-9C9B-916761D03BF8}" presName="Accent2" presStyleCnt="0"/>
      <dgm:spPr/>
    </dgm:pt>
    <dgm:pt modelId="{8407FEA4-E198-448A-AA09-E0B1BB2400DD}" type="pres">
      <dgm:prSet presAssocID="{FF185962-E3A3-4F6E-9C9B-916761D03BF8}" presName="Accent" presStyleLbl="node1" presStyleIdx="4" presStyleCnt="6"/>
      <dgm:spPr/>
    </dgm:pt>
    <dgm:pt modelId="{306F356F-B94D-4317-83C0-B675E6C462AB}" type="pres">
      <dgm:prSet presAssocID="{FF185962-E3A3-4F6E-9C9B-916761D03BF8}" presName="ParentBackground2" presStyleCnt="0"/>
      <dgm:spPr/>
    </dgm:pt>
    <dgm:pt modelId="{FCC8B92B-E8E8-4D26-B244-F6AD4FA938C0}" type="pres">
      <dgm:prSet presAssocID="{FF185962-E3A3-4F6E-9C9B-916761D03BF8}" presName="ParentBackground" presStyleLbl="fgAcc1" presStyleIdx="4" presStyleCnt="6"/>
      <dgm:spPr/>
    </dgm:pt>
    <dgm:pt modelId="{96570A63-B230-4A4D-B89D-4C060806DFA9}" type="pres">
      <dgm:prSet presAssocID="{FF185962-E3A3-4F6E-9C9B-916761D03BF8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3486EAB-F0C6-4945-9C59-AA4B30B828D5}" type="pres">
      <dgm:prSet presAssocID="{66B29825-EE97-415C-8EB9-F5FC3126B72F}" presName="Accent1" presStyleCnt="0"/>
      <dgm:spPr/>
    </dgm:pt>
    <dgm:pt modelId="{F5019ADE-5467-483B-8C33-AB36EDE6AFE5}" type="pres">
      <dgm:prSet presAssocID="{66B29825-EE97-415C-8EB9-F5FC3126B72F}" presName="Accent" presStyleLbl="node1" presStyleIdx="5" presStyleCnt="6"/>
      <dgm:spPr/>
    </dgm:pt>
    <dgm:pt modelId="{EE550201-8922-4E32-8ECF-7E01AAE6FF19}" type="pres">
      <dgm:prSet presAssocID="{66B29825-EE97-415C-8EB9-F5FC3126B72F}" presName="ParentBackground1" presStyleCnt="0"/>
      <dgm:spPr/>
    </dgm:pt>
    <dgm:pt modelId="{544F506A-47FB-4FDD-8979-C57B7C7C5964}" type="pres">
      <dgm:prSet presAssocID="{66B29825-EE97-415C-8EB9-F5FC3126B72F}" presName="ParentBackground" presStyleLbl="fgAcc1" presStyleIdx="5" presStyleCnt="6"/>
      <dgm:spPr/>
    </dgm:pt>
    <dgm:pt modelId="{A6906E63-7162-4196-B0B9-DE2E8B5D71B5}" type="pres">
      <dgm:prSet presAssocID="{66B29825-EE97-415C-8EB9-F5FC3126B72F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75486501-F7C8-4883-8660-3B5F0C0DD341}" type="presOf" srcId="{CC3F7AD4-5D6F-49D3-A4AE-4E6182B31494}" destId="{6EFCB34C-D1B1-43AC-8861-519B138E233E}" srcOrd="0" destOrd="0" presId="urn:microsoft.com/office/officeart/2011/layout/CircleProcess"/>
    <dgm:cxn modelId="{3F828304-2BCD-442F-90A4-3F3AEE33F24B}" type="presOf" srcId="{66B29825-EE97-415C-8EB9-F5FC3126B72F}" destId="{A6906E63-7162-4196-B0B9-DE2E8B5D71B5}" srcOrd="1" destOrd="0" presId="urn:microsoft.com/office/officeart/2011/layout/CircleProcess"/>
    <dgm:cxn modelId="{D0E71211-8CBF-47CD-A753-2E85277DFD1C}" srcId="{1741E7E0-511E-47BE-AFFE-11FCC629201E}" destId="{57EA2BC2-88DE-40AC-8E67-156723EFBF7C}" srcOrd="3" destOrd="0" parTransId="{CBDD0DD6-EC27-4A17-BE0C-9CF52108EDED}" sibTransId="{A609B40D-3E01-481D-8747-90333A12C4A7}"/>
    <dgm:cxn modelId="{86A31123-11A2-4BD7-8BF5-6FA1F9A74960}" type="presOf" srcId="{CC3F7AD4-5D6F-49D3-A4AE-4E6182B31494}" destId="{5B2277A6-1525-4771-AF5D-38009522DA05}" srcOrd="1" destOrd="0" presId="urn:microsoft.com/office/officeart/2011/layout/CircleProcess"/>
    <dgm:cxn modelId="{E45F5823-7B7B-4DB0-907F-9130C5564F3B}" srcId="{1741E7E0-511E-47BE-AFFE-11FCC629201E}" destId="{83FE7A1E-549D-4D99-B587-F2AB1E252F2A}" srcOrd="4" destOrd="0" parTransId="{A995A982-952D-4600-B10C-E0A00499E588}" sibTransId="{42ED5E77-1E6F-46A4-A030-F0C1AF1A7C80}"/>
    <dgm:cxn modelId="{B740A827-FE56-426A-A44C-92D0AD5C2729}" type="presOf" srcId="{587A2DD1-A1D5-4E49-B18A-16E9F650FA2C}" destId="{4C188151-5BAA-4388-8B0F-A5C6416A1A7B}" srcOrd="1" destOrd="0" presId="urn:microsoft.com/office/officeart/2011/layout/CircleProcess"/>
    <dgm:cxn modelId="{B7595D28-B99C-4A97-8640-BDFD7E7A9373}" type="presOf" srcId="{83FE7A1E-549D-4D99-B587-F2AB1E252F2A}" destId="{A49D5C13-C397-40B9-9618-D2B6C74F8215}" srcOrd="0" destOrd="0" presId="urn:microsoft.com/office/officeart/2011/layout/CircleProcess"/>
    <dgm:cxn modelId="{9ED8EF33-04EE-4A84-8E1E-D0A70DEE1F57}" srcId="{1741E7E0-511E-47BE-AFFE-11FCC629201E}" destId="{66B29825-EE97-415C-8EB9-F5FC3126B72F}" srcOrd="0" destOrd="0" parTransId="{6F76B9A7-27A1-4C32-8A02-329414E2E75A}" sibTransId="{734B9241-B689-432F-9D80-A301A1D3156E}"/>
    <dgm:cxn modelId="{E8702A38-2C8F-4FFE-9D9E-EF3320ADC8E2}" type="presOf" srcId="{66B29825-EE97-415C-8EB9-F5FC3126B72F}" destId="{544F506A-47FB-4FDD-8979-C57B7C7C5964}" srcOrd="0" destOrd="0" presId="urn:microsoft.com/office/officeart/2011/layout/CircleProcess"/>
    <dgm:cxn modelId="{1891B15F-9D87-4644-92DB-3F2C2775F803}" type="presOf" srcId="{57EA2BC2-88DE-40AC-8E67-156723EFBF7C}" destId="{EA77BAF4-208D-43D3-9A43-D6AA338C7597}" srcOrd="1" destOrd="0" presId="urn:microsoft.com/office/officeart/2011/layout/CircleProcess"/>
    <dgm:cxn modelId="{9FA46542-29A5-459F-9EE2-CFD75274CE5E}" type="presOf" srcId="{83FE7A1E-549D-4D99-B587-F2AB1E252F2A}" destId="{5DE60781-91E0-4760-9FE1-61C5F61FA3F8}" srcOrd="1" destOrd="0" presId="urn:microsoft.com/office/officeart/2011/layout/CircleProcess"/>
    <dgm:cxn modelId="{C0FDB36B-C4D2-4C5C-B877-A9D87D6A24DC}" type="presOf" srcId="{1741E7E0-511E-47BE-AFFE-11FCC629201E}" destId="{7328205B-DC1F-4B0F-8F57-312E959DACBC}" srcOrd="0" destOrd="0" presId="urn:microsoft.com/office/officeart/2011/layout/CircleProcess"/>
    <dgm:cxn modelId="{36AE0C4D-6485-4098-AAE7-3467888054E0}" type="presOf" srcId="{57EA2BC2-88DE-40AC-8E67-156723EFBF7C}" destId="{64D7E69F-8518-4273-9EB1-7B5EA7A9D5B3}" srcOrd="0" destOrd="0" presId="urn:microsoft.com/office/officeart/2011/layout/CircleProcess"/>
    <dgm:cxn modelId="{2B19EB53-7226-43B0-A0D2-617365D1579B}" type="presOf" srcId="{587A2DD1-A1D5-4E49-B18A-16E9F650FA2C}" destId="{028033D3-B196-496F-9A8E-5076F6390B19}" srcOrd="0" destOrd="0" presId="urn:microsoft.com/office/officeart/2011/layout/CircleProcess"/>
    <dgm:cxn modelId="{36AB4FB9-5C5C-4576-929D-51FC65EA5722}" type="presOf" srcId="{FF185962-E3A3-4F6E-9C9B-916761D03BF8}" destId="{FCC8B92B-E8E8-4D26-B244-F6AD4FA938C0}" srcOrd="0" destOrd="0" presId="urn:microsoft.com/office/officeart/2011/layout/CircleProcess"/>
    <dgm:cxn modelId="{C0744DC3-A939-46AE-81A4-B5B444393AB4}" srcId="{1741E7E0-511E-47BE-AFFE-11FCC629201E}" destId="{587A2DD1-A1D5-4E49-B18A-16E9F650FA2C}" srcOrd="2" destOrd="0" parTransId="{A838C5C3-94D3-41E4-A530-0400646902F0}" sibTransId="{6C79FEC8-C71B-4EF2-BC1D-49D797935D4D}"/>
    <dgm:cxn modelId="{C161CAC5-096B-4DAC-8996-44F4B1B9640F}" srcId="{1741E7E0-511E-47BE-AFFE-11FCC629201E}" destId="{CC3F7AD4-5D6F-49D3-A4AE-4E6182B31494}" srcOrd="5" destOrd="0" parTransId="{EDB4160E-9845-4F60-B778-6229A6537710}" sibTransId="{C26521BF-3872-48D1-A1DB-4C4278A84147}"/>
    <dgm:cxn modelId="{AFB386D8-A8D1-44B8-889E-3F8958D2F2FE}" type="presOf" srcId="{FF185962-E3A3-4F6E-9C9B-916761D03BF8}" destId="{96570A63-B230-4A4D-B89D-4C060806DFA9}" srcOrd="1" destOrd="0" presId="urn:microsoft.com/office/officeart/2011/layout/CircleProcess"/>
    <dgm:cxn modelId="{9933A1E3-DB8A-4160-8753-1097C79527D7}" srcId="{1741E7E0-511E-47BE-AFFE-11FCC629201E}" destId="{FF185962-E3A3-4F6E-9C9B-916761D03BF8}" srcOrd="1" destOrd="0" parTransId="{4068E1F5-6073-4552-8195-491AC69FB51F}" sibTransId="{59A339CB-496D-486D-953D-07FC3C7B0CF8}"/>
    <dgm:cxn modelId="{088A40CE-B0BD-44F9-A7B4-49BF8CFF03AF}" type="presParOf" srcId="{7328205B-DC1F-4B0F-8F57-312E959DACBC}" destId="{B3A3E343-F4D0-45DA-A9DC-AA30303D4050}" srcOrd="0" destOrd="0" presId="urn:microsoft.com/office/officeart/2011/layout/CircleProcess"/>
    <dgm:cxn modelId="{0C49E52E-39A8-452E-B127-83EAF16D2214}" type="presParOf" srcId="{B3A3E343-F4D0-45DA-A9DC-AA30303D4050}" destId="{0A445BB2-80C4-4B1D-91B8-4B05DFEA5950}" srcOrd="0" destOrd="0" presId="urn:microsoft.com/office/officeart/2011/layout/CircleProcess"/>
    <dgm:cxn modelId="{57684665-0DCC-4C53-87C6-4B13657E8E21}" type="presParOf" srcId="{7328205B-DC1F-4B0F-8F57-312E959DACBC}" destId="{5336F471-1E0E-40EF-A2E5-36148EAD3DA9}" srcOrd="1" destOrd="0" presId="urn:microsoft.com/office/officeart/2011/layout/CircleProcess"/>
    <dgm:cxn modelId="{7C4D07D2-0E50-46DD-95D6-E7FC77D4B2B2}" type="presParOf" srcId="{5336F471-1E0E-40EF-A2E5-36148EAD3DA9}" destId="{6EFCB34C-D1B1-43AC-8861-519B138E233E}" srcOrd="0" destOrd="0" presId="urn:microsoft.com/office/officeart/2011/layout/CircleProcess"/>
    <dgm:cxn modelId="{D2DAC4E2-4051-4A44-ACAC-73022E965CDD}" type="presParOf" srcId="{7328205B-DC1F-4B0F-8F57-312E959DACBC}" destId="{5B2277A6-1525-4771-AF5D-38009522DA05}" srcOrd="2" destOrd="0" presId="urn:microsoft.com/office/officeart/2011/layout/CircleProcess"/>
    <dgm:cxn modelId="{B6E70CBB-F950-4799-AC96-96885F3C5D71}" type="presParOf" srcId="{7328205B-DC1F-4B0F-8F57-312E959DACBC}" destId="{1DE97388-E6C9-4B32-934D-6284013B24B9}" srcOrd="3" destOrd="0" presId="urn:microsoft.com/office/officeart/2011/layout/CircleProcess"/>
    <dgm:cxn modelId="{3707A493-FCEB-4FC8-8620-74D28B42926A}" type="presParOf" srcId="{1DE97388-E6C9-4B32-934D-6284013B24B9}" destId="{0B062F6C-D458-450F-AF8D-8889E4B90CAE}" srcOrd="0" destOrd="0" presId="urn:microsoft.com/office/officeart/2011/layout/CircleProcess"/>
    <dgm:cxn modelId="{264F8E00-B788-45C9-8C2D-9530435B8021}" type="presParOf" srcId="{7328205B-DC1F-4B0F-8F57-312E959DACBC}" destId="{3F3610B8-A51D-404C-A4BA-D8AA876A167B}" srcOrd="4" destOrd="0" presId="urn:microsoft.com/office/officeart/2011/layout/CircleProcess"/>
    <dgm:cxn modelId="{F6F5E2A7-D721-4094-9B83-19CB40B0EEE5}" type="presParOf" srcId="{3F3610B8-A51D-404C-A4BA-D8AA876A167B}" destId="{A49D5C13-C397-40B9-9618-D2B6C74F8215}" srcOrd="0" destOrd="0" presId="urn:microsoft.com/office/officeart/2011/layout/CircleProcess"/>
    <dgm:cxn modelId="{1B271CF0-C680-4EB4-A888-2FAA298D31E2}" type="presParOf" srcId="{7328205B-DC1F-4B0F-8F57-312E959DACBC}" destId="{5DE60781-91E0-4760-9FE1-61C5F61FA3F8}" srcOrd="5" destOrd="0" presId="urn:microsoft.com/office/officeart/2011/layout/CircleProcess"/>
    <dgm:cxn modelId="{48D9A5E4-54A4-4F76-9664-E59E5C7AC5E2}" type="presParOf" srcId="{7328205B-DC1F-4B0F-8F57-312E959DACBC}" destId="{F2E44793-BAAC-478E-890F-FBA64E056AA0}" srcOrd="6" destOrd="0" presId="urn:microsoft.com/office/officeart/2011/layout/CircleProcess"/>
    <dgm:cxn modelId="{263372E9-99B3-4D9C-95B0-1AF0BC1B9D49}" type="presParOf" srcId="{F2E44793-BAAC-478E-890F-FBA64E056AA0}" destId="{876EC74A-F374-40DD-998F-0ECDD7F7DE01}" srcOrd="0" destOrd="0" presId="urn:microsoft.com/office/officeart/2011/layout/CircleProcess"/>
    <dgm:cxn modelId="{A7163D0B-72A9-4DD1-943D-FD2B9007A495}" type="presParOf" srcId="{7328205B-DC1F-4B0F-8F57-312E959DACBC}" destId="{31E8D11B-4591-44CA-9409-B3360168AB23}" srcOrd="7" destOrd="0" presId="urn:microsoft.com/office/officeart/2011/layout/CircleProcess"/>
    <dgm:cxn modelId="{890E68A4-EE4C-4B53-90D4-634EE5C283FE}" type="presParOf" srcId="{31E8D11B-4591-44CA-9409-B3360168AB23}" destId="{64D7E69F-8518-4273-9EB1-7B5EA7A9D5B3}" srcOrd="0" destOrd="0" presId="urn:microsoft.com/office/officeart/2011/layout/CircleProcess"/>
    <dgm:cxn modelId="{F1CA2205-61E3-4436-970F-EF8B25C661CD}" type="presParOf" srcId="{7328205B-DC1F-4B0F-8F57-312E959DACBC}" destId="{EA77BAF4-208D-43D3-9A43-D6AA338C7597}" srcOrd="8" destOrd="0" presId="urn:microsoft.com/office/officeart/2011/layout/CircleProcess"/>
    <dgm:cxn modelId="{118A8B68-57B3-419F-ACF9-C5458240DD33}" type="presParOf" srcId="{7328205B-DC1F-4B0F-8F57-312E959DACBC}" destId="{325679EF-A373-4C16-92B9-73F0DE7DD4E7}" srcOrd="9" destOrd="0" presId="urn:microsoft.com/office/officeart/2011/layout/CircleProcess"/>
    <dgm:cxn modelId="{00C65FC7-E404-4772-A7B5-B42E87029F7D}" type="presParOf" srcId="{325679EF-A373-4C16-92B9-73F0DE7DD4E7}" destId="{E9881F0A-3E9F-4923-BFD3-84D6F138FC7C}" srcOrd="0" destOrd="0" presId="urn:microsoft.com/office/officeart/2011/layout/CircleProcess"/>
    <dgm:cxn modelId="{B1BDBE42-4FE8-467E-97F1-E52913F4C645}" type="presParOf" srcId="{7328205B-DC1F-4B0F-8F57-312E959DACBC}" destId="{B3AE43E6-F6B1-4927-9613-A67EC9225E9C}" srcOrd="10" destOrd="0" presId="urn:microsoft.com/office/officeart/2011/layout/CircleProcess"/>
    <dgm:cxn modelId="{C0C1AF6B-6FFF-4114-9C26-38EB0998C9FA}" type="presParOf" srcId="{B3AE43E6-F6B1-4927-9613-A67EC9225E9C}" destId="{028033D3-B196-496F-9A8E-5076F6390B19}" srcOrd="0" destOrd="0" presId="urn:microsoft.com/office/officeart/2011/layout/CircleProcess"/>
    <dgm:cxn modelId="{F5344D1D-E64A-43CE-A5A0-087F813B51BA}" type="presParOf" srcId="{7328205B-DC1F-4B0F-8F57-312E959DACBC}" destId="{4C188151-5BAA-4388-8B0F-A5C6416A1A7B}" srcOrd="11" destOrd="0" presId="urn:microsoft.com/office/officeart/2011/layout/CircleProcess"/>
    <dgm:cxn modelId="{08EE3EDA-084A-4266-8B71-98BB437EE2AB}" type="presParOf" srcId="{7328205B-DC1F-4B0F-8F57-312E959DACBC}" destId="{20DE2D74-C0EF-4D84-84C3-7A8A45FD8643}" srcOrd="12" destOrd="0" presId="urn:microsoft.com/office/officeart/2011/layout/CircleProcess"/>
    <dgm:cxn modelId="{7E726EC4-8079-4864-8022-11B5383487CF}" type="presParOf" srcId="{20DE2D74-C0EF-4D84-84C3-7A8A45FD8643}" destId="{8407FEA4-E198-448A-AA09-E0B1BB2400DD}" srcOrd="0" destOrd="0" presId="urn:microsoft.com/office/officeart/2011/layout/CircleProcess"/>
    <dgm:cxn modelId="{571622C8-470A-4DD6-A97A-9E253666B730}" type="presParOf" srcId="{7328205B-DC1F-4B0F-8F57-312E959DACBC}" destId="{306F356F-B94D-4317-83C0-B675E6C462AB}" srcOrd="13" destOrd="0" presId="urn:microsoft.com/office/officeart/2011/layout/CircleProcess"/>
    <dgm:cxn modelId="{A8E45AD6-E187-4B7E-98DD-30F275AE4C39}" type="presParOf" srcId="{306F356F-B94D-4317-83C0-B675E6C462AB}" destId="{FCC8B92B-E8E8-4D26-B244-F6AD4FA938C0}" srcOrd="0" destOrd="0" presId="urn:microsoft.com/office/officeart/2011/layout/CircleProcess"/>
    <dgm:cxn modelId="{02FFAC80-E9C3-4F6F-AD4F-FEDBA3611966}" type="presParOf" srcId="{7328205B-DC1F-4B0F-8F57-312E959DACBC}" destId="{96570A63-B230-4A4D-B89D-4C060806DFA9}" srcOrd="14" destOrd="0" presId="urn:microsoft.com/office/officeart/2011/layout/CircleProcess"/>
    <dgm:cxn modelId="{10A8CE94-85F5-47FE-A835-81190C802A8F}" type="presParOf" srcId="{7328205B-DC1F-4B0F-8F57-312E959DACBC}" destId="{53486EAB-F0C6-4945-9C59-AA4B30B828D5}" srcOrd="15" destOrd="0" presId="urn:microsoft.com/office/officeart/2011/layout/CircleProcess"/>
    <dgm:cxn modelId="{E807CCA7-41C9-4ADA-ABCA-F15197F2D660}" type="presParOf" srcId="{53486EAB-F0C6-4945-9C59-AA4B30B828D5}" destId="{F5019ADE-5467-483B-8C33-AB36EDE6AFE5}" srcOrd="0" destOrd="0" presId="urn:microsoft.com/office/officeart/2011/layout/CircleProcess"/>
    <dgm:cxn modelId="{F31691AD-4322-4CBC-943A-544AB21556BC}" type="presParOf" srcId="{7328205B-DC1F-4B0F-8F57-312E959DACBC}" destId="{EE550201-8922-4E32-8ECF-7E01AAE6FF19}" srcOrd="16" destOrd="0" presId="urn:microsoft.com/office/officeart/2011/layout/CircleProcess"/>
    <dgm:cxn modelId="{CB84F304-4E2A-4499-8838-202BD1B81451}" type="presParOf" srcId="{EE550201-8922-4E32-8ECF-7E01AAE6FF19}" destId="{544F506A-47FB-4FDD-8979-C57B7C7C5964}" srcOrd="0" destOrd="0" presId="urn:microsoft.com/office/officeart/2011/layout/CircleProcess"/>
    <dgm:cxn modelId="{FC6BFC25-5E3E-400C-8111-98F2DBF17996}" type="presParOf" srcId="{7328205B-DC1F-4B0F-8F57-312E959DACBC}" destId="{A6906E63-7162-4196-B0B9-DE2E8B5D71B5}" srcOrd="17" destOrd="0" presId="urn:microsoft.com/office/officeart/2011/layout/CircleProcess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45BB2-80C4-4B1D-91B8-4B05DFEA5950}">
      <dsp:nvSpPr>
        <dsp:cNvPr id="0" name=""/>
        <dsp:cNvSpPr/>
      </dsp:nvSpPr>
      <dsp:spPr>
        <a:xfrm>
          <a:off x="10335939" y="2114376"/>
          <a:ext cx="1905325" cy="19049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CB34C-D1B1-43AC-8861-519B138E233E}">
      <dsp:nvSpPr>
        <dsp:cNvPr id="0" name=""/>
        <dsp:cNvSpPr/>
      </dsp:nvSpPr>
      <dsp:spPr>
        <a:xfrm>
          <a:off x="10400095" y="2177886"/>
          <a:ext cx="1778222" cy="17779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effectLst/>
              <a:latin typeface="ui-sans-serif"/>
            </a:rPr>
            <a:t>Policy Watch Integration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ui-sans-serif"/>
            </a:rPr>
            <a:t>Final configuration and instrumentation of the </a:t>
          </a:r>
          <a:r>
            <a:rPr lang="en-US" sz="1000" b="1" i="0" kern="1200" dirty="0">
              <a:effectLst/>
              <a:latin typeface="ui-sans-serif"/>
            </a:rPr>
            <a:t>Policy Watch</a:t>
          </a:r>
          <a:r>
            <a:rPr lang="en-US" sz="1000" b="0" i="0" kern="1200" dirty="0">
              <a:effectLst/>
              <a:latin typeface="ui-sans-serif"/>
            </a:rPr>
            <a:t> pipeline for production-ready observability.</a:t>
          </a:r>
        </a:p>
      </dsp:txBody>
      <dsp:txXfrm>
        <a:off x="10654300" y="2431925"/>
        <a:ext cx="1269813" cy="1269863"/>
      </dsp:txXfrm>
    </dsp:sp>
    <dsp:sp modelId="{0B062F6C-D458-450F-AF8D-8889E4B90CAE}">
      <dsp:nvSpPr>
        <dsp:cNvPr id="0" name=""/>
        <dsp:cNvSpPr/>
      </dsp:nvSpPr>
      <dsp:spPr>
        <a:xfrm rot="2700000">
          <a:off x="8367802" y="2114162"/>
          <a:ext cx="1905056" cy="19050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D5C13-C397-40B9-9618-D2B6C74F8215}">
      <dsp:nvSpPr>
        <dsp:cNvPr id="0" name=""/>
        <dsp:cNvSpPr/>
      </dsp:nvSpPr>
      <dsp:spPr>
        <a:xfrm>
          <a:off x="8431824" y="2177886"/>
          <a:ext cx="1778222" cy="17779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effectLst/>
              <a:latin typeface="ui-sans-serif"/>
            </a:rPr>
            <a:t>EC2 Infrastructure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ui-sans-serif"/>
            </a:rPr>
            <a:t>Successful acquisition of a dedicated </a:t>
          </a:r>
          <a:r>
            <a:rPr lang="en-US" sz="1000" b="1" i="0" kern="1200" dirty="0">
              <a:effectLst/>
              <a:latin typeface="ui-sans-serif"/>
            </a:rPr>
            <a:t>AWS EC2 Instance</a:t>
          </a:r>
          <a:r>
            <a:rPr lang="en-US" sz="1000" b="0" i="0" kern="1200" dirty="0">
              <a:effectLst/>
              <a:latin typeface="ui-sans-serif"/>
            </a:rPr>
            <a:t>. Deployment of self-hosted </a:t>
          </a:r>
          <a:r>
            <a:rPr lang="en-US" sz="1000" b="0" i="0" kern="1200" dirty="0" err="1">
              <a:effectLst/>
              <a:latin typeface="ui-sans-serif"/>
            </a:rPr>
            <a:t>Langfuse</a:t>
          </a:r>
          <a:r>
            <a:rPr lang="en-US" sz="1000" b="0" i="0" kern="1200" dirty="0">
              <a:effectLst/>
              <a:latin typeface="ui-sans-serif"/>
            </a:rPr>
            <a:t> </a:t>
          </a:r>
          <a:r>
            <a:rPr lang="en-US" sz="1000" b="0" i="0" kern="1200" dirty="0" err="1">
              <a:effectLst/>
              <a:latin typeface="ui-sans-serif"/>
            </a:rPr>
            <a:t>stack.</a:t>
          </a:r>
          <a:r>
            <a:rPr lang="en-US" sz="1000" b="1" i="0" kern="1200" dirty="0" err="1">
              <a:effectLst/>
              <a:latin typeface="ui-sans-serif"/>
            </a:rPr>
            <a:t>e</a:t>
          </a:r>
          <a:endParaRPr lang="en-US" sz="1000" b="0" i="0" kern="1200" dirty="0">
            <a:effectLst/>
            <a:latin typeface="ui-sans-serif"/>
          </a:endParaRPr>
        </a:p>
      </dsp:txBody>
      <dsp:txXfrm>
        <a:off x="8686029" y="2431925"/>
        <a:ext cx="1269813" cy="1269863"/>
      </dsp:txXfrm>
    </dsp:sp>
    <dsp:sp modelId="{876EC74A-F374-40DD-998F-0ECDD7F7DE01}">
      <dsp:nvSpPr>
        <dsp:cNvPr id="0" name=""/>
        <dsp:cNvSpPr/>
      </dsp:nvSpPr>
      <dsp:spPr>
        <a:xfrm rot="2700000">
          <a:off x="6399530" y="2114162"/>
          <a:ext cx="1905056" cy="19050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7E69F-8518-4273-9EB1-7B5EA7A9D5B3}">
      <dsp:nvSpPr>
        <dsp:cNvPr id="0" name=""/>
        <dsp:cNvSpPr/>
      </dsp:nvSpPr>
      <dsp:spPr>
        <a:xfrm>
          <a:off x="6463553" y="2177886"/>
          <a:ext cx="1778222" cy="17779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effectLst/>
              <a:latin typeface="ui-sans-serif"/>
            </a:rPr>
            <a:t>Local Validation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ui-sans-serif"/>
            </a:rPr>
            <a:t>Quick-start POC completed on local laptops using Docker to verify middleware compatibility.</a:t>
          </a:r>
        </a:p>
      </dsp:txBody>
      <dsp:txXfrm>
        <a:off x="6717757" y="2431925"/>
        <a:ext cx="1269813" cy="1269863"/>
      </dsp:txXfrm>
    </dsp:sp>
    <dsp:sp modelId="{E9881F0A-3E9F-4923-BFD3-84D6F138FC7C}">
      <dsp:nvSpPr>
        <dsp:cNvPr id="0" name=""/>
        <dsp:cNvSpPr/>
      </dsp:nvSpPr>
      <dsp:spPr>
        <a:xfrm rot="2700000">
          <a:off x="4431259" y="2114162"/>
          <a:ext cx="1905056" cy="19050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033D3-B196-496F-9A8E-5076F6390B19}">
      <dsp:nvSpPr>
        <dsp:cNvPr id="0" name=""/>
        <dsp:cNvSpPr/>
      </dsp:nvSpPr>
      <dsp:spPr>
        <a:xfrm>
          <a:off x="4495282" y="2177886"/>
          <a:ext cx="1778222" cy="17779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effectLst/>
              <a:latin typeface="ui-sans-serif"/>
            </a:rPr>
            <a:t>Strategic Pivot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ui-sans-serif"/>
            </a:rPr>
            <a:t>Decision to move to </a:t>
          </a:r>
          <a:r>
            <a:rPr lang="en-US" sz="1000" b="1" i="0" kern="1200" dirty="0">
              <a:effectLst/>
              <a:latin typeface="ui-sans-serif"/>
            </a:rPr>
            <a:t>On-Prem </a:t>
          </a:r>
          <a:r>
            <a:rPr lang="en-US" sz="1000" b="1" i="0" kern="1200" dirty="0" err="1">
              <a:effectLst/>
              <a:latin typeface="ui-sans-serif"/>
            </a:rPr>
            <a:t>Langfuse</a:t>
          </a:r>
          <a:r>
            <a:rPr lang="en-US" sz="1000" b="0" i="0" kern="1200" dirty="0">
              <a:effectLst/>
              <a:latin typeface="ui-sans-serif"/>
            </a:rPr>
            <a:t>. Priorities: Data security, full infrastructure control, and immediate autonomy.</a:t>
          </a:r>
        </a:p>
      </dsp:txBody>
      <dsp:txXfrm>
        <a:off x="4748276" y="2431925"/>
        <a:ext cx="1269813" cy="1269863"/>
      </dsp:txXfrm>
    </dsp:sp>
    <dsp:sp modelId="{8407FEA4-E198-448A-AA09-E0B1BB2400DD}">
      <dsp:nvSpPr>
        <dsp:cNvPr id="0" name=""/>
        <dsp:cNvSpPr/>
      </dsp:nvSpPr>
      <dsp:spPr>
        <a:xfrm rot="2700000">
          <a:off x="2462988" y="2114162"/>
          <a:ext cx="1905056" cy="19050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8B92B-E8E8-4D26-B244-F6AD4FA938C0}">
      <dsp:nvSpPr>
        <dsp:cNvPr id="0" name=""/>
        <dsp:cNvSpPr/>
      </dsp:nvSpPr>
      <dsp:spPr>
        <a:xfrm>
          <a:off x="2527010" y="2177886"/>
          <a:ext cx="1778222" cy="17779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effectLst/>
              <a:latin typeface="ui-sans-serif"/>
            </a:rPr>
            <a:t>Consultation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ui-sans-serif"/>
            </a:rPr>
            <a:t>Sync with </a:t>
          </a:r>
          <a:r>
            <a:rPr lang="en-US" sz="1000" b="1" i="0" kern="1200" dirty="0">
              <a:effectLst/>
              <a:latin typeface="ui-sans-serif"/>
            </a:rPr>
            <a:t>Core AI Team</a:t>
          </a:r>
          <a:r>
            <a:rPr lang="en-US" sz="1000" b="0" i="0" kern="1200" dirty="0">
              <a:effectLst/>
              <a:latin typeface="ui-sans-serif"/>
            </a:rPr>
            <a:t>. Discovery: No enterprise license currently active; team is primarily focused on internal POCs.</a:t>
          </a:r>
          <a:endParaRPr lang="en-IN" sz="1000" kern="1200" dirty="0"/>
        </a:p>
      </dsp:txBody>
      <dsp:txXfrm>
        <a:off x="2780005" y="2431925"/>
        <a:ext cx="1269813" cy="1269863"/>
      </dsp:txXfrm>
    </dsp:sp>
    <dsp:sp modelId="{F5019ADE-5467-483B-8C33-AB36EDE6AFE5}">
      <dsp:nvSpPr>
        <dsp:cNvPr id="0" name=""/>
        <dsp:cNvSpPr/>
      </dsp:nvSpPr>
      <dsp:spPr>
        <a:xfrm rot="2700000">
          <a:off x="494717" y="2114162"/>
          <a:ext cx="1905056" cy="19050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F506A-47FB-4FDD-8979-C57B7C7C5964}">
      <dsp:nvSpPr>
        <dsp:cNvPr id="0" name=""/>
        <dsp:cNvSpPr/>
      </dsp:nvSpPr>
      <dsp:spPr>
        <a:xfrm>
          <a:off x="557529" y="2177886"/>
          <a:ext cx="1778222" cy="177794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>
              <a:effectLst/>
              <a:latin typeface="ui-sans-serif"/>
            </a:rPr>
            <a:t>Cloud Exploration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ui-sans-serif"/>
            </a:rPr>
            <a:t>Initial assessment of </a:t>
          </a:r>
          <a:r>
            <a:rPr lang="en-US" sz="1000" b="0" i="0" kern="1200" dirty="0" err="1">
              <a:effectLst/>
              <a:latin typeface="ui-sans-serif"/>
            </a:rPr>
            <a:t>Langfuse</a:t>
          </a:r>
          <a:r>
            <a:rPr lang="en-US" sz="1000" b="0" i="0" kern="1200" dirty="0">
              <a:effectLst/>
              <a:latin typeface="ui-sans-serif"/>
            </a:rPr>
            <a:t> Cloud for rapid deployment.</a:t>
          </a:r>
          <a:endParaRPr lang="en-IN" sz="1000" kern="1200" dirty="0"/>
        </a:p>
      </dsp:txBody>
      <dsp:txXfrm>
        <a:off x="811734" y="2431925"/>
        <a:ext cx="1269813" cy="12698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A941-D95C-0A6E-D6AB-F2A66ECDB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B3A22-2739-848F-91C9-91E6812A3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076E-0A71-2675-B15F-5E1D5753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56481-2C18-654F-95A9-AE7C36EA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9E02B-2F70-5A68-7D3D-69ECBA65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0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A95A-593A-0958-5660-DE399464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60A8-5D39-D427-9D69-C2118D8C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752A6-C3B8-4CD0-D53F-447DC03A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8A6C6-BC0A-BFAA-EA4E-D9ECCB30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815F5-54FF-84D7-DCD2-8377BCC2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1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4EE4-5A20-6E3B-83CD-D0FA5204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4BC17-B85C-7F4A-D3E0-0037A16BE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30198-BA68-7B39-F107-38F0148F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0986-7A63-D7BC-1CC6-A95B217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40FE0-8C86-DD0A-AEC8-F0E5B0F1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04A5-2B94-CFB5-75FE-4EA6D21C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882C9-C1F5-B6B5-7A1F-04D90BA67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A2DB1-B7D8-281C-1973-2BB1CCFF7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3B536-8BF6-DF0D-2995-C1DE5B7D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A271F-B976-0BC7-03CC-6FA842E6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21100-91A0-3830-8152-8FEEDC65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1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5E70-7497-8EC6-E42F-1DBF68A1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CD8F0-57B5-8D6E-E18A-E6369A038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4ED6F-D6E9-1852-1C00-414FA60CF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CEFE2-6E99-9412-FC59-6D85B403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28B21-3384-61AF-6851-2DECE7615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844C-3A3C-9A83-8D02-E024CFAA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D93D89-C292-7A74-7671-966EB2FB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26D21-6A96-AAEB-5C98-5934557D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35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9C4D-B6EF-1A79-2634-04F996FB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6FCEB-0DCA-A20A-6261-8CD44667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051A8-0068-1CC6-C2B3-9DAB23DE8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0EF25-E06C-450C-5581-1BFB8BEA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F1F9A-86E1-CBE8-66F9-D5308448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7A6E9-76CE-218B-205A-5ED32CA8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34A19-5D2C-4398-1231-9D11153F7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50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FA7D-BD88-26AA-CB30-E0B81A17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C7C8D-3D54-D697-AE10-5B17B4031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771A3-EBB5-5F52-A920-ECE94C8FF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D37A6-2B8A-2AB5-9AE2-8757FACA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B2460-093F-85BD-7FE9-ADA9D7FD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33E4D-6302-BC1F-0C3F-38DA588C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00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85FC-22DB-1B9E-4400-16E769F4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3AD3-31B6-4453-65D3-E32547DF2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51D66-4D13-C082-E1FF-5D32B3168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1821-C07A-45A2-97CF-8132689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C0645-354E-9B5F-E155-174F442D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B3A63-A91C-F638-B984-C82C11DB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75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9FE3-377E-5B22-9163-CCAF117F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D512C-1DE6-BC54-9EEE-D0F5EB2B9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25FA-1CF2-FEC6-C718-6EB2C15E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DEC03-FFB8-8F85-6641-E10C9A34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05869-7CF0-EE7C-FBC6-278CCB64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50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79A0A-5248-0CE1-F815-376A5B9E7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0B155-0BFC-F955-34E0-8BFBBD738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BBB53-FBEB-BE88-42CA-7446EF4C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90595-4005-52DB-F69A-AB68D95B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F0FCB-6882-0F56-B47C-CE577350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55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43808-F7E7-5C89-78BB-E4C1FE92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030C5-BB90-DE51-8305-C5C912168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7A42-0E77-D5BB-1F3E-6AD7A8CA5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6A1E4-5C27-42A1-B5E4-896F2667F540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F28E2-A9C5-88C4-8691-5491AA3C9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C83D3-B451-0D38-461B-A3AFC0138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B31DA-235C-4DF2-A2C0-D5101B768B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61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9DC2-5758-CA2C-EFDC-7AEB98437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2" y="113072"/>
            <a:ext cx="9144000" cy="611547"/>
          </a:xfrm>
        </p:spPr>
        <p:txBody>
          <a:bodyPr>
            <a:normAutofit fontScale="90000"/>
          </a:bodyPr>
          <a:lstStyle/>
          <a:p>
            <a:pPr algn="l"/>
            <a:r>
              <a:rPr lang="en-IN" b="1" i="0" dirty="0">
                <a:effectLst/>
                <a:latin typeface="ui-sans-serif"/>
              </a:rPr>
              <a:t>The Groundwork: Our Journey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45B66-09EE-520C-FD9F-1B04AFEA1832}"/>
              </a:ext>
            </a:extLst>
          </p:cNvPr>
          <p:cNvSpPr txBox="1"/>
          <p:nvPr/>
        </p:nvSpPr>
        <p:spPr>
          <a:xfrm>
            <a:off x="172529" y="854015"/>
            <a:ext cx="1139549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ui-sans-serif"/>
              </a:rPr>
              <a:t>Cloud Exploration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Initial assessment of </a:t>
            </a:r>
            <a:r>
              <a:rPr lang="en-US" b="0" i="0" dirty="0" err="1">
                <a:effectLst/>
                <a:latin typeface="ui-sans-serif"/>
              </a:rPr>
              <a:t>Langfuse</a:t>
            </a:r>
            <a:r>
              <a:rPr lang="en-US" b="0" i="0" dirty="0">
                <a:effectLst/>
                <a:latin typeface="ui-sans-serif"/>
              </a:rPr>
              <a:t> Cloud for rapid deployment.</a:t>
            </a:r>
          </a:p>
          <a:p>
            <a:pPr algn="l"/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Consultation (Nov 2025)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Sync with </a:t>
            </a:r>
            <a:r>
              <a:rPr lang="en-US" b="1" i="0" dirty="0">
                <a:effectLst/>
                <a:latin typeface="ui-sans-serif"/>
              </a:rPr>
              <a:t>Core AI Team</a:t>
            </a:r>
            <a:r>
              <a:rPr lang="en-US" b="0" i="0" dirty="0">
                <a:effectLst/>
                <a:latin typeface="ui-sans-serif"/>
              </a:rPr>
              <a:t>. Discovery: No enterprise license currently active; team is primarily focused on internal POCs.</a:t>
            </a:r>
          </a:p>
          <a:p>
            <a:pPr algn="l"/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Strategic Pivot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Decision to move to </a:t>
            </a:r>
            <a:r>
              <a:rPr lang="en-US" b="1" i="0" dirty="0">
                <a:effectLst/>
                <a:latin typeface="ui-sans-serif"/>
              </a:rPr>
              <a:t>On-Prem </a:t>
            </a:r>
            <a:r>
              <a:rPr lang="en-US" b="1" i="0" dirty="0" err="1">
                <a:effectLst/>
                <a:latin typeface="ui-sans-serif"/>
              </a:rPr>
              <a:t>Langfuse</a:t>
            </a:r>
            <a:r>
              <a:rPr lang="en-US" b="0" i="0" dirty="0">
                <a:effectLst/>
                <a:latin typeface="ui-sans-serif"/>
              </a:rPr>
              <a:t>. Priorities: Data security, full infrastructure control, and immediate autonomy.</a:t>
            </a:r>
          </a:p>
          <a:p>
            <a:pPr algn="l"/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Local Validation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Quick-start POC completed on local laptops using Docker to verify middleware compatibility.</a:t>
            </a:r>
          </a:p>
          <a:p>
            <a:pPr algn="l"/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EC2 Infrastructure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Successful acquisition of a dedicated </a:t>
            </a:r>
            <a:r>
              <a:rPr lang="en-US" b="1" i="0" dirty="0">
                <a:effectLst/>
                <a:latin typeface="ui-sans-serif"/>
              </a:rPr>
              <a:t>AWS EC2 Instance</a:t>
            </a:r>
            <a:r>
              <a:rPr lang="en-US" b="0" i="0" dirty="0">
                <a:effectLst/>
                <a:latin typeface="ui-sans-serif"/>
              </a:rPr>
              <a:t>. Deployment of self-hosted </a:t>
            </a:r>
            <a:r>
              <a:rPr lang="en-US" b="0" i="0" dirty="0" err="1">
                <a:effectLst/>
                <a:latin typeface="ui-sans-serif"/>
              </a:rPr>
              <a:t>Langfuse</a:t>
            </a:r>
            <a:r>
              <a:rPr lang="en-US" b="0" i="0" dirty="0">
                <a:effectLst/>
                <a:latin typeface="ui-sans-serif"/>
              </a:rPr>
              <a:t> stack.</a:t>
            </a:r>
          </a:p>
          <a:p>
            <a:pPr algn="l"/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Policy Watch Integration</a:t>
            </a:r>
          </a:p>
          <a:p>
            <a:pPr algn="l"/>
            <a:r>
              <a:rPr lang="en-US" b="0" i="0" dirty="0">
                <a:effectLst/>
                <a:latin typeface="ui-sans-serif"/>
              </a:rPr>
              <a:t>Final configuration and instrumentation of the </a:t>
            </a:r>
            <a:r>
              <a:rPr lang="en-US" b="1" i="0" dirty="0">
                <a:effectLst/>
                <a:latin typeface="ui-sans-serif"/>
              </a:rPr>
              <a:t>Policy Watch</a:t>
            </a:r>
            <a:r>
              <a:rPr lang="en-US" b="0" i="0" dirty="0">
                <a:effectLst/>
                <a:latin typeface="ui-sans-serif"/>
              </a:rPr>
              <a:t> pipeline for production-ready observability.</a:t>
            </a:r>
          </a:p>
        </p:txBody>
      </p:sp>
    </p:spTree>
    <p:extLst>
      <p:ext uri="{BB962C8B-B14F-4D97-AF65-F5344CB8AC3E}">
        <p14:creationId xmlns:p14="http://schemas.microsoft.com/office/powerpoint/2010/main" val="89911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9DC2-5758-CA2C-EFDC-7AEB98437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2" y="113072"/>
            <a:ext cx="9144000" cy="611547"/>
          </a:xfrm>
        </p:spPr>
        <p:txBody>
          <a:bodyPr>
            <a:normAutofit fontScale="90000"/>
          </a:bodyPr>
          <a:lstStyle/>
          <a:p>
            <a:pPr algn="l"/>
            <a:r>
              <a:rPr lang="en-IN" b="1" i="0" dirty="0">
                <a:effectLst/>
                <a:latin typeface="ui-sans-serif"/>
              </a:rPr>
              <a:t>The Groundwork: Our Journey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D5256B-DBA6-EC1A-1607-8B59539E84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8070860"/>
              </p:ext>
            </p:extLst>
          </p:nvPr>
        </p:nvGraphicFramePr>
        <p:xfrm>
          <a:off x="-249867" y="677713"/>
          <a:ext cx="12341225" cy="6133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706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BFCC-5784-E9B3-052E-DD64F20E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0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effectLst/>
                <a:latin typeface="ui-sans-serif"/>
              </a:rPr>
              <a:t>Why </a:t>
            </a:r>
            <a:r>
              <a:rPr lang="en-IN" b="1" i="0" dirty="0" err="1">
                <a:effectLst/>
                <a:latin typeface="ui-sans-serif"/>
              </a:rPr>
              <a:t>Langfuse</a:t>
            </a:r>
            <a:r>
              <a:rPr lang="en-IN" b="1" i="0" dirty="0">
                <a:effectLst/>
                <a:latin typeface="ui-sans-serif"/>
              </a:rPr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7B3F-1F4A-F442-2DA7-2CB5DEC8B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987425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IN" b="1" i="0" dirty="0">
                <a:effectLst/>
                <a:latin typeface="ui-sans-serif"/>
              </a:rPr>
              <a:t>The Problem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❌ "Black box" LLM calls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❌ No visibility into token costs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❌ Impossible to debug nested pipelines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❌ Manual evaluation is slow</a:t>
            </a:r>
          </a:p>
          <a:p>
            <a:pPr marL="914400" lvl="2" indent="0">
              <a:buNone/>
            </a:pPr>
            <a:endParaRPr lang="en-IN" b="0" i="0" dirty="0">
              <a:effectLst/>
              <a:latin typeface="ui-sans-serif"/>
            </a:endParaRPr>
          </a:p>
          <a:p>
            <a:pPr algn="l"/>
            <a:r>
              <a:rPr lang="en-IN" b="1" i="0" dirty="0">
                <a:effectLst/>
                <a:latin typeface="ui-sans-serif"/>
              </a:rPr>
              <a:t>The Solution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✅ Open-source &amp; self-hostable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✅ Visual Trace debugging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✅ Automated cost &amp; latency tracking</a:t>
            </a:r>
          </a:p>
          <a:p>
            <a:pPr marL="914400" lvl="2" indent="0">
              <a:buNone/>
            </a:pPr>
            <a:r>
              <a:rPr lang="en-IN" b="0" i="0" dirty="0">
                <a:effectLst/>
                <a:latin typeface="ui-sans-serif"/>
              </a:rPr>
              <a:t>✅ Integrated Prompt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952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C5F3-2881-BF78-2367-F605E385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" y="320674"/>
            <a:ext cx="9534525" cy="72072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ui-sans-serif"/>
              </a:rPr>
              <a:t>Core Features: Visualizing the AI Journey</a:t>
            </a:r>
            <a:br>
              <a:rPr lang="en-US" b="1" i="0" dirty="0"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9F7DB-C88C-E82F-53A8-894A2B3E04C1}"/>
              </a:ext>
            </a:extLst>
          </p:cNvPr>
          <p:cNvSpPr txBox="1"/>
          <p:nvPr/>
        </p:nvSpPr>
        <p:spPr>
          <a:xfrm>
            <a:off x="333375" y="1245036"/>
            <a:ext cx="57626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ui-sans-serif"/>
              </a:rPr>
              <a:t>📍</a:t>
            </a:r>
          </a:p>
          <a:p>
            <a:r>
              <a:rPr lang="en-US" b="1" i="0" dirty="0">
                <a:effectLst/>
                <a:latin typeface="ui-sans-serif"/>
              </a:rPr>
              <a:t>Traces</a:t>
            </a:r>
          </a:p>
          <a:p>
            <a:r>
              <a:rPr lang="en-US" b="0" i="0" dirty="0">
                <a:effectLst/>
                <a:latin typeface="ui-sans-serif"/>
              </a:rPr>
              <a:t>One document = One logical journey. See exactly how an input becomes an output.</a:t>
            </a:r>
          </a:p>
          <a:p>
            <a:endParaRPr lang="en-US" dirty="0"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r>
              <a:rPr lang="en-US" b="0" i="0" dirty="0">
                <a:effectLst/>
                <a:latin typeface="ui-sans-serif"/>
              </a:rPr>
              <a:t>📂</a:t>
            </a:r>
          </a:p>
          <a:p>
            <a:r>
              <a:rPr lang="en-US" b="1" i="0" dirty="0">
                <a:effectLst/>
                <a:latin typeface="ui-sans-serif"/>
              </a:rPr>
              <a:t>Sessions</a:t>
            </a:r>
          </a:p>
          <a:p>
            <a:r>
              <a:rPr lang="en-US" b="0" i="0" dirty="0">
                <a:effectLst/>
                <a:latin typeface="ui-sans-serif"/>
              </a:rPr>
              <a:t>Group hundreds of traces into a "Daily Batch" for high-level performance reporting.</a:t>
            </a:r>
          </a:p>
          <a:p>
            <a:endParaRPr lang="en-US" dirty="0"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r>
              <a:rPr lang="en-US" b="0" i="0" dirty="0">
                <a:effectLst/>
                <a:latin typeface="ui-sans-serif"/>
              </a:rPr>
              <a:t>🏷️</a:t>
            </a:r>
          </a:p>
          <a:p>
            <a:r>
              <a:rPr lang="en-US" b="1" i="0" dirty="0">
                <a:effectLst/>
                <a:latin typeface="ui-sans-serif"/>
              </a:rPr>
              <a:t>Metadata &amp; Tags</a:t>
            </a:r>
          </a:p>
          <a:p>
            <a:r>
              <a:rPr lang="en-US" b="0" i="0" dirty="0">
                <a:effectLst/>
                <a:latin typeface="ui-sans-serif"/>
              </a:rPr>
              <a:t>Attach User IDs, Doc IDs, or custom flags to filter and search through millions of logs.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C504D-A62E-DBAE-72BF-1C76CFC723DA}"/>
              </a:ext>
            </a:extLst>
          </p:cNvPr>
          <p:cNvSpPr txBox="1"/>
          <p:nvPr/>
        </p:nvSpPr>
        <p:spPr>
          <a:xfrm>
            <a:off x="6886574" y="1241643"/>
            <a:ext cx="53054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ui-sans-serif"/>
              </a:rPr>
              <a:t>💰</a:t>
            </a:r>
          </a:p>
          <a:p>
            <a:r>
              <a:rPr lang="en-US" b="1" i="0" dirty="0">
                <a:effectLst/>
                <a:latin typeface="ui-sans-serif"/>
              </a:rPr>
              <a:t>Cost Analysis</a:t>
            </a:r>
          </a:p>
          <a:p>
            <a:r>
              <a:rPr lang="en-US" b="0" i="0" dirty="0">
                <a:effectLst/>
                <a:latin typeface="ui-sans-serif"/>
              </a:rPr>
              <a:t>Automatic token calculation across providers (OpenAI, Anthropic, Azure).</a:t>
            </a:r>
          </a:p>
          <a:p>
            <a:endParaRPr lang="en-US" dirty="0"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r>
              <a:rPr lang="en-US" b="0" i="0" dirty="0">
                <a:effectLst/>
                <a:latin typeface="ui-sans-serif"/>
              </a:rPr>
              <a:t>📖</a:t>
            </a:r>
          </a:p>
          <a:p>
            <a:r>
              <a:rPr lang="en-US" b="1" i="0" dirty="0">
                <a:effectLst/>
                <a:latin typeface="ui-sans-serif"/>
              </a:rPr>
              <a:t>Prompt Library</a:t>
            </a:r>
          </a:p>
          <a:p>
            <a:r>
              <a:rPr lang="en-US" b="0" i="0" dirty="0">
                <a:effectLst/>
                <a:latin typeface="ui-sans-serif"/>
              </a:rPr>
              <a:t>Version control prompts in the UI. Update prompts without redeploying code.</a:t>
            </a:r>
          </a:p>
          <a:p>
            <a:endParaRPr lang="en-US" dirty="0"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endParaRPr lang="en-US" b="0" i="0" dirty="0">
              <a:effectLst/>
              <a:latin typeface="ui-sans-serif"/>
            </a:endParaRPr>
          </a:p>
          <a:p>
            <a:r>
              <a:rPr lang="en-US" b="0" i="0" dirty="0">
                <a:effectLst/>
                <a:latin typeface="ui-sans-serif"/>
              </a:rPr>
              <a:t>⭐</a:t>
            </a:r>
          </a:p>
          <a:p>
            <a:r>
              <a:rPr lang="en-US" b="1" i="0" dirty="0">
                <a:effectLst/>
                <a:latin typeface="ui-sans-serif"/>
              </a:rPr>
              <a:t>Evaluation</a:t>
            </a:r>
          </a:p>
          <a:p>
            <a:r>
              <a:rPr lang="en-US" b="0" i="0" dirty="0">
                <a:effectLst/>
                <a:latin typeface="ui-sans-serif"/>
              </a:rPr>
              <a:t>Record precision, recall, or human feedback scores directly against AI logs.</a:t>
            </a:r>
          </a:p>
        </p:txBody>
      </p:sp>
    </p:spTree>
    <p:extLst>
      <p:ext uri="{BB962C8B-B14F-4D97-AF65-F5344CB8AC3E}">
        <p14:creationId xmlns:p14="http://schemas.microsoft.com/office/powerpoint/2010/main" val="386458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5BAC-7E05-A2B7-DB21-AD306216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81" y="183970"/>
            <a:ext cx="8426570" cy="428505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effectLst/>
                <a:latin typeface="ui-sans-serif"/>
              </a:rPr>
              <a:t>Why the Middleware SDK?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87574-514F-930F-33E8-2DB3E4302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39" y="923026"/>
            <a:ext cx="11550769" cy="5253937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effectLst/>
                <a:latin typeface="ui-sans-serif"/>
              </a:rPr>
              <a:t>The SDK acts as a "Corporate Shield" between the App and </a:t>
            </a:r>
            <a:r>
              <a:rPr lang="en-US" b="0" i="0" dirty="0" err="1">
                <a:effectLst/>
                <a:latin typeface="ui-sans-serif"/>
              </a:rPr>
              <a:t>Langfuse</a:t>
            </a:r>
            <a:r>
              <a:rPr lang="en-US" b="0" i="0" dirty="0">
                <a:effectLst/>
                <a:latin typeface="ui-sans-serif"/>
              </a:rPr>
              <a:t>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Zero Dependency Leakage</a:t>
            </a:r>
          </a:p>
          <a:p>
            <a:pPr lvl="1"/>
            <a:r>
              <a:rPr lang="en-US" b="0" i="0" dirty="0">
                <a:effectLst/>
                <a:latin typeface="ui-sans-serif"/>
              </a:rPr>
              <a:t>Application code only imports `</a:t>
            </a:r>
            <a:r>
              <a:rPr lang="en-US" b="0" i="0" dirty="0" err="1">
                <a:effectLst/>
                <a:latin typeface="ui-sans-serif"/>
              </a:rPr>
              <a:t>llmops_core</a:t>
            </a:r>
            <a:r>
              <a:rPr lang="en-US" b="0" i="0" dirty="0">
                <a:effectLst/>
                <a:latin typeface="ui-sans-serif"/>
              </a:rPr>
              <a:t>`. We can swap </a:t>
            </a:r>
            <a:r>
              <a:rPr lang="en-US" b="0" i="0" dirty="0" err="1">
                <a:effectLst/>
                <a:latin typeface="ui-sans-serif"/>
              </a:rPr>
              <a:t>Langfuse</a:t>
            </a:r>
            <a:r>
              <a:rPr lang="en-US" b="0" i="0" dirty="0">
                <a:effectLst/>
                <a:latin typeface="ui-sans-serif"/>
              </a:rPr>
              <a:t> for another tool in 1 day.</a:t>
            </a:r>
          </a:p>
          <a:p>
            <a:pPr algn="l"/>
            <a:endParaRPr lang="en-US" b="1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Compliance-First (PII Redaction)</a:t>
            </a:r>
          </a:p>
          <a:p>
            <a:pPr lvl="1"/>
            <a:r>
              <a:rPr lang="en-US" b="0" i="0" dirty="0">
                <a:effectLst/>
                <a:latin typeface="ui-sans-serif"/>
              </a:rPr>
              <a:t>SSNs, Emails, and sensitive data are "scrubbed" locally before they ever leave the server.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ui-sans-serif"/>
            </a:endParaRPr>
          </a:p>
          <a:p>
            <a:pPr algn="l"/>
            <a:r>
              <a:rPr lang="en-US" b="1" i="0" dirty="0">
                <a:effectLst/>
                <a:latin typeface="ui-sans-serif"/>
              </a:rPr>
              <a:t>Circuit Breaker (Resilience)</a:t>
            </a:r>
          </a:p>
          <a:p>
            <a:pPr lvl="1"/>
            <a:r>
              <a:rPr lang="en-US" b="0" i="0" dirty="0">
                <a:effectLst/>
                <a:latin typeface="ui-sans-serif"/>
              </a:rPr>
              <a:t>If </a:t>
            </a:r>
            <a:r>
              <a:rPr lang="en-US" b="0" i="0" dirty="0" err="1">
                <a:effectLst/>
                <a:latin typeface="ui-sans-serif"/>
              </a:rPr>
              <a:t>Langfuse</a:t>
            </a:r>
            <a:r>
              <a:rPr lang="en-US" b="0" i="0" dirty="0">
                <a:effectLst/>
                <a:latin typeface="ui-sans-serif"/>
              </a:rPr>
              <a:t> is down, the SDK fails silently in &lt; 1ms. The application never crashes.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740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9F834A-092A-4E55-B248-84C7C61C4B93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475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ui-sans-serif</vt:lpstr>
      <vt:lpstr>Office Theme</vt:lpstr>
      <vt:lpstr>The Groundwork: Our Journey</vt:lpstr>
      <vt:lpstr>The Groundwork: Our Journey</vt:lpstr>
      <vt:lpstr>Why Langfuse?</vt:lpstr>
      <vt:lpstr>Core Features: Visualizing the AI Journey </vt:lpstr>
      <vt:lpstr>Why the Middleware SDK?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a</dc:creator>
  <cp:lastModifiedBy>a a</cp:lastModifiedBy>
  <cp:revision>3</cp:revision>
  <dcterms:created xsi:type="dcterms:W3CDTF">2026-01-26T09:09:00Z</dcterms:created>
  <dcterms:modified xsi:type="dcterms:W3CDTF">2026-01-26T09:18:35Z</dcterms:modified>
</cp:coreProperties>
</file>